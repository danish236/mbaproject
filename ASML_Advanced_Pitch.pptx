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Valuation (USD)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Intrinsic Value (DCF)</c:v>
                </c:pt>
                <c:pt idx="1">
                  <c:v>Current Market Price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411.34</c:v>
                </c:pt>
                <c:pt idx="1">
                  <c:v>1592.02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A Dual-Horizon Financial Assessment of Semiconductor Monopolies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Fundamental Resiliency and Long-Term Market Valuation of ASML Holding N.V.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Danish Shaikh | SAP ID: 77124115940</a:t>
            </a:r>
            <a:br/>
            <a:r>
              <a:t>Master of Business Administration (Finance Specialization)</a:t>
            </a:r>
            <a:br/>
            <a: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5B"/>
                </a:solidFill>
              </a:defRPr>
            </a:pPr>
            <a:r>
              <a:t>1. The EUV Monopoly &amp; Economic Moat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ASML operates as the exclusive global supplier of Extreme Ultraviolet (EUV) lithography systems.</a:t>
            </a:r>
          </a:p>
          <a:p>
            <a:pPr>
              <a:defRPr sz="1800"/>
            </a:pPr>
            <a:r>
              <a:t>Commanding an 82.5% market share, it effectively functions as a de facto global monopoly.</a:t>
            </a:r>
          </a:p>
          <a:p>
            <a:pPr>
              <a:defRPr sz="1800"/>
            </a:pPr>
            <a:r>
              <a:t>This technological dominance creates absolute pricing inelasticity.</a:t>
            </a:r>
          </a:p>
          <a:p>
            <a:pPr>
              <a:defRPr sz="1800"/>
            </a:pPr>
            <a:r>
              <a:t>ASML successfully passes inflationary pressures onto foundries (TSMC, Intel, Samsung) with zero demand destruction.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5B"/>
                </a:solidFill>
              </a:defRPr>
            </a:pPr>
            <a:r>
              <a:t>2. Flawless Corporate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DuPont Analysis proves extraordinary Net Profit Margins consistently approaching 30%.</a:t>
            </a:r>
          </a:p>
          <a:p>
            <a:pPr>
              <a:defRPr sz="1800"/>
            </a:pPr>
            <a:r>
              <a:t>Aggressive balance sheet deleveraging: Debt-to-Equity ratio systematically compressed to a conservative 0.22.</a:t>
            </a:r>
          </a:p>
          <a:p>
            <a:pPr>
              <a:defRPr sz="1800"/>
            </a:pPr>
            <a:r>
              <a:t>Massive Operating Cash Flow easily funds $1.5B+ CapEx while supporting aggressive share repurchases.</a:t>
            </a:r>
          </a:p>
          <a:p>
            <a:pPr>
              <a:defRPr sz="1800"/>
            </a:pPr>
            <a:r>
              <a:t>Altman Z-Score exceeds 12.0, proving bankruptcy distress is statistically indistinguishable from zero.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5B"/>
                </a:solidFill>
              </a:defRPr>
            </a:pPr>
            <a:r>
              <a:t>3. The Valuation Disconnect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5B"/>
                </a:solidFill>
              </a:defRPr>
            </a:pPr>
            <a:r>
              <a:t>4. The Geopolitical Black Swan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US-China Semiconductor Cold War presents a severe threat to ASML’s Total Addressable Market (TAM).</a:t>
            </a:r>
          </a:p>
          <a:p>
            <a:pPr>
              <a:defRPr sz="1800"/>
            </a:pPr>
            <a:r>
              <a:t>Strict extraterritorial export controls increasingly bar ASML from shipping EUV and advanced DUV systems to Chinese entities.</a:t>
            </a:r>
          </a:p>
          <a:p>
            <a:pPr>
              <a:defRPr sz="1800"/>
            </a:pPr>
            <a:r>
              <a:t>This geographical revenue concentration risk fundamentally threatens the terminal growth assumptions priced in by institutional capital.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5B"/>
                </a:solidFill>
              </a:defRPr>
            </a:pPr>
            <a:r>
              <a:t>5. Strategic Capital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FOR EXISTING SHAREHOLDERS: HOLD.</a:t>
            </a:r>
          </a:p>
          <a:p>
            <a:pPr>
              <a:defRPr sz="1800"/>
            </a:pPr>
            <a:r>
              <a:t>The 15-Year CAGR of 28% and pristine corporate finance architecture justify retaining exposure to the AI CapEx cycle.</a:t>
            </a:r>
          </a:p>
          <a:p>
            <a:pPr>
              <a:defRPr sz="1800"/>
            </a:pPr>
            <a:r>
              <a:t>FOR NEW CAPITAL DEPLOYMENT: AVOID.</a:t>
            </a:r>
          </a:p>
          <a:p>
            <a:pPr>
              <a:defRPr sz="1800"/>
            </a:pPr>
            <a:r>
              <a:t>The extreme valuation premium carries a high risk of 'multiple compression.'</a:t>
            </a:r>
          </a:p>
          <a:p>
            <a:pPr>
              <a:defRPr sz="1800"/>
            </a:pPr>
            <a:r>
              <a:t>Allocators should wait for a macroeconomic drawdown to secure a safer entry point based on cash-flow reality.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