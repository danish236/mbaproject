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Intrinsic Value (DCF Model)</c:v>
                </c:pt>
                <c:pt idx="1">
                  <c:v>Current Market Price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411.34</c:v>
                </c:pt>
                <c:pt idx="1">
                  <c:v>1592.02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200">
                <a:solidFill>
                  <a:srgbClr val="FFFFFF"/>
                </a:solidFill>
                <a:latin typeface="Calibri"/>
              </a:defRPr>
            </a:pPr>
            <a:r>
              <a:t>A Dual-Horizon Financial Assessment</a:t>
            </a:r>
          </a:p>
          <a:p>
            <a:pPr>
              <a:defRPr sz="2000">
                <a:solidFill>
                  <a:srgbClr val="FF6600"/>
                </a:solidFill>
                <a:latin typeface="Calibri"/>
              </a:defRPr>
            </a:pPr>
            <a:r>
              <a:t>Fundamental Resiliency and Long-Term Market Valuation of ASML Holding N.V.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04040"/>
                </a:solidFill>
                <a:latin typeface="Calibri"/>
              </a:defRPr>
            </a:pPr>
            <a:r>
              <a:t>Danish Shaikh | SAP ID: 77124115940</a:t>
            </a:r>
            <a:br/>
            <a:r>
              <a:t>Master of Business Administration (Finance Specialization)</a:t>
            </a:r>
            <a:br/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1. Executive Summary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Objective: To empirically deconstruct the financial resiliency and market valuation of ASML.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Methodology: An automated, Python-driven extraction pipeline analyzing a 4-year fundamental window and a 15-year technical horizon.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Core Hypothesis: ASML's absolute hardware monopoly insulates it from standard corporate finance vulnerabilities.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Outcome: A stark dichotomy was found between its flawless internal fundamentals and its severely overvalued public equity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2. The EUV Monopoly &amp; Economic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ASML operates as the exclusive global supplier of EUV and High-NA EUV lithography systems.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Commanding an 82.5% market share, it crushed legacy competitors Nikon and Canon.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Inelastic Pricing Power: The inability of foundries (TSMC, Intel, Samsung) to source alternative machinery allows ASML to pass 100% of inflationary pressures to clients.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Structural Moat: Protected by thousands of patents, specialized quantum engineering talent, and exclusive supplier alliances (e.g., Carl Zeiss).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3. Fundamental Health: Margin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Total Revenue surged from $21.5B (2021) to $29.8B (2023), driven by Net System Sales.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DuPont Analysis confirms extraordinary Net Profit Margins peaking at 29.41% in 2025.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Gross Margins cleared 52.82%, proving that the physical cost of building a $350M machine consumes less than half its final sale price.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Aggressive R&amp;D Reinvestment: Allocates over 14.5% of revenue to R&amp;D, actively engineering future market dominance.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4. Solvency &amp; Working Capital Masterclass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Deleveraging: Debt-to-Equity ratio systematically compressed to a deeply conservative 0.22, nullifying interest rate risk.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Altman Z-Score oscillates between 12.0 and 15.0, proving bankruptcy distress is statistically zero.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Working Capital: Mitigates massive Work-in-Progress (WIP) inventory drag via negative working capital structures.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Forces foundries to front-load massive, non-refundable down payments, financing ASML's internal supply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5. Long-Term Market Valuation &amp;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15-Year Compound Annual Growth Rate (CAGR) stands at an anomalous 28.00%.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Institutional Dominance: 80.0% of the equity is tightly held by global asset managers, suppressing free float and accelerating price momentum.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Systematic Risk: A calculated CAPM Beta of 1.82 confirms the asset is highly volatile and sensitive to macroeconomic sentiment.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Maximum Drawdowns: Endured a -50% peak-to-trough drawdown during the 2022 central bank tightening cycle.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6. Intrinsic Valuation: The DCF Disconnect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DCF Parameters: 8.5% WACC | 15% Near-Term Growth | 2.5% Terminal Growth.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7. Relative Valuation &amp; The Scarcity Premium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Forward P/E multiples frequently exceed 40x to 45x, completely detached from the 18x-22x industry baseline of peers like Lam Research and Applied Materials.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The public equities market assigns a massive 'Scarcity Premium' due to the lack of EUV substitutes.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This leaves the asset highly vulnerable to 'multiple compression'—a severe mean-reversion risk if operational missteps occur.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Real Options Valuation (ROV) suggests the market is pricing in the massive optionality of ASML's High-NA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8. The Geopolitical Black Swan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The ongoing US-China Semiconductor Cold War presents a severe, unquantifiable threat.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Extraterritorial Export Controls (FDPR) bar ASML from shipping flagship EUV and legacy DUV systems to Chinese entities.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This geographical revenue concentration risk fundamentally threatens Total Addressable Market (TAM) assumptions.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However, this is partially offset by Western macro-regulatory tailwinds (U.S. CHIPS Act), which indirectly underwrite ASML's client CapEx.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9. The High-NA EUV Runway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Future revenue growth is heavily supported by the Twinscan EXE series (High-NA EUV).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Average Selling Price (ASP) effectively doubles from ~$150M (Standard EUV) to over $350M (High-NA).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This allows ASML to achieve massive top-line growth without requiring a proportional increase in physical manufacturing throughput.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Installed Base Management (Services) acts as a highly predictable, high-margin software annuity, providing a structural financial ballast.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205B"/>
                </a:solidFill>
                <a:latin typeface="Calibri"/>
              </a:defRPr>
            </a:pPr>
            <a:r>
              <a:t>10. Final 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latin typeface="Calibri"/>
              </a:defRPr>
            </a:pPr>
            <a:r>
              <a:t>FOR EXISTING SHAREHOLDERS: HOLD.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The pristine corporate finance architecture, zero insolvency risk, and multi-decade AI CapEx cycle justify retaining exposure.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FOR NEW CAPITAL DEPLOYMENT: AVOID.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The extreme valuation premium ($1,592 vs $411 DCF) leaves zero margin of safety.</a:t>
            </a:r>
          </a:p>
          <a:p>
            <a:pPr>
              <a:spcBef>
                <a:spcPts val="1000"/>
              </a:spcBef>
              <a:defRPr sz="1600">
                <a:latin typeface="Calibri"/>
              </a:defRPr>
            </a:pPr>
            <a:r>
              <a:t>Allocators must await a localized macroeconomic recession or geopolitical shock to trigger a 30% to 40% equity drawdown for a defensible entry 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