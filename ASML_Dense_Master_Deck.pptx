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Intrinsic Value (DCF Model)</c:v>
                </c:pt>
                <c:pt idx="1">
                  <c:v>Current Market Price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411.34</c:v>
                </c:pt>
                <c:pt idx="1">
                  <c:v>1592.02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D0-4CF0-B17A-B6605996A7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 Dual-Horizon Financial Assessment</a:t>
            </a:r>
          </a:p>
          <a:p>
            <a:pPr>
              <a:defRPr sz="2000">
                <a:solidFill>
                  <a:srgbClr val="FF6600"/>
                </a:solidFill>
                <a:latin typeface="Calibri"/>
              </a:defRPr>
            </a:pPr>
            <a:r>
              <a:t>Fundamental Resiliency and Long-Term Market Valuation of ASML Holding N.V.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  <a:latin typeface="Calibri"/>
              </a:defRPr>
            </a:pPr>
            <a:r>
              <a:t>Danish Shaikh | SAP ID: 77124115940</a:t>
            </a:r>
            <a:br/>
            <a:r>
              <a:t>Master of Business Administration (Finance Specialization)</a:t>
            </a:r>
            <a:br/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1. Executive Summary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alibri"/>
              </a:defRPr>
            </a:pPr>
            <a:r>
              <a:rPr dirty="0"/>
              <a:t>Objective: To empirically deconstruct the financial resiliency and market valuation of ASML[cite: 374, 376].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rPr dirty="0"/>
              <a:t>Methodology: An automated, Python-driven extraction pipeline analyzing a 4-year fundamental window and a 15-year technical horizon[cite: 377, 378].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rPr dirty="0"/>
              <a:t>Core Hypothesis: ASML's absolute hardware monopoly insulates it from standard corporate finance vulnerabilities[cite: 403, 1158].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rPr dirty="0"/>
              <a:t>Outcome: A stark dichotomy was found between its flawless internal fundamentals and its severely overvalued public equity pricing[cite: 385, 386].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2. The EUV Monopoly &amp; Economic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alibri"/>
              </a:defRPr>
            </a:pPr>
            <a:r>
              <a:t>ASML operates as the exclusive global supplier of Extreme Ultraviolet (EUV) and High-NA EUV lithography systems[cite: 397].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Commanding an 82.5% market share, it effectively functions as a de facto global monopoly, defeating legacy competitors Nikon (10.2%) and Canon (6.1%)[cite: 375, 563, 564].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Inelastic Pricing Power: The inability of foundries (TSMC, Intel, Samsung) to source alternative machinery allows ASML to pass inflationary pressures to clients[cite: 402, 652].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Structural Moat: Protected by thousands of patents, specialized quantum engineering talent, and exclusive supplier alliances (e.g., Carl Zeiss)[cite: 462, 502].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The 18-month manufacturing lead time creates a multi-year order backlog exceeding $30 billion, shielding ASML from standard supply chain 'Bullwhip' effects[cite: 422, 423].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3. Fundamental Health: Margin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alibri"/>
              </a:defRPr>
            </a:pPr>
            <a:r>
              <a:t>Total Revenue surged from $21.5 billion in 2021 to $29.8 billion in 2023, representing an absolute top-line expansion of nearly 40% over 24 months[cite: 614, 615].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DuPont Analysis confirms extraordinary Net Profit Margins: expanding from 26.56% in 2022 to a peak of 29.41% in 2025[cite: 651].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Gross Margins consistently clear the 52% threshold, proving the physical cost of a $350 million machine consumes less than half its sale price[cite: 677, 1111].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R&amp;D Intensity: ASML routinely allocates upwards of 14.5% to 17% of revenue ($4.0 billion in 2023) to R&amp;D, continuously expanding its barrier to entry[cite: 642, 643, 713].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Statutory Tax Optimization via the Dutch 'Innovation Box' regime lowers the effective tax rate to ~15%, drastically inflating Net Operating Profit After Tax[cite: 807, 808, 809, 812].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4. Solvency &amp; Working Capital Masterclass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alibri"/>
              </a:defRPr>
            </a:pPr>
            <a:r>
              <a:t>Deleveraging: Debt-to-Equity ratio systematically compressed from 0.48 in 2022 to a deeply conservative 0.22 in 2025, nullifying interest rate risk[cite: 680].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Altman Z-Score oscillates between 12.0 and 15.0, proving insolvency distress is statistically indistinguishable from zero[cite: 820, 823].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Standard Current Ratios are misleading due to massive Work-in-Progress (WIP) inventory, but the Quick (Acid-Test) Ratio confirms pristine immediate liquidity[cite: 682, 683, 688, 690].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ASML mitigates WIP drag via a negative working capital structure, forcing foundries to front-load massive, non-refundable down payments[cite: 768, 770, 772].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This supplier-financed architecture frees up internal cash reserves for aggressive share buybacks and dividend compounding[cite: 772, 773, 901].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5. Long-Term Market Valuation &amp; Momentum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alibri"/>
              </a:defRPr>
            </a:pPr>
            <a:r>
              <a:t>The 15-Year Compound Annual Growth Rate (CAGR) stands at an anomalous 28.00%, vastly outperforming standard macroeconomic benchmarks[cite: 845, 846].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Equity ownership is extremely concentrated: exactly 80.0% of the float is tightly held by global institutional asset managers, accelerating price momentum[cite: 873].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A calculated CAPM Beta of 1.82 mathematically proves the asset is 82% more volatile than the broader S&amp;P 500, indicating high systematic risk[cite: 880].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Maximum Drawdown profiling reveals a -50% peak-to-trough contraction during the 2022 central bank tightening cycle, highlighting extreme interest-rate sensitivity[cite: 865, 866].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Free Cash Flow to Equity (FCFE) and Free Cash Flow to Firm (FCFF) mathematically converge due to negligible debt servicing costs[cite: 939, 940].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6. Intrinsic Valuation: The DCF Disconnect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555971"/>
              </p:ext>
            </p:extLst>
          </p:nvPr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754880" y="1863214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rPr dirty="0"/>
              <a:t>A 5-Year DCF model was executed using an 8.5% WACC, 15% near-term growth, and 2.5% terminal growth[cite: 949].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rPr dirty="0"/>
              <a:t>The model generated an intrinsic share value of exactly $411.34, starkly contrasting with current trading prices exceeding $1,592.02[cite: 960, 961].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rPr dirty="0"/>
              <a:t>The public equities market assigns a massive 'Scarcity Premium,' pricing in a flawless, multi-decade AI super-cycle with zero margin of safety[cite: 962, 983, 984].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rPr dirty="0"/>
              <a:t>Even highly optimistic 'Bull Market' Monte Carlo parameters (7.5% WACC, 3.5% Terminal Growth) max out at a $580.00 intrinsic value[cite: 978, 979, 982].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7. Relative Valuation &amp; Real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alibri"/>
              </a:defRPr>
            </a:pPr>
            <a:r>
              <a:t>Comparable Company Analysis (CCA) shows ASML trading at a Forward P/E of 40x-45x, double the 18x-22x baseline of peers like Lam Research[cite: 1007, 1008, 1009].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This extreme multiple expansion leaves the asset highly vulnerable to 'multiple compression' if foundry CapEx decelerates or operational missteps occur[cite: 1014, 1015].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Real Options Valuation (ROV) suggests the market is not just valuing current deliveries, but pricing the High-NA R&amp;D pipeline as a massive financial call option[cite: 1020, 1021, 1022, 1030].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Economic Value Added (EVA) analysis proves a 30% positive spread between ASML's 40%+ ROIC and its 8.5% WACC[cite: 1036, 1037, 1038].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8. The Geopolitical Black Swan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alibri"/>
              </a:defRPr>
            </a:pPr>
            <a:r>
              <a:t>The ongoing US-China Semiconductor Cold War presents a severe, unquantifiable threat to ASML’s Total Addressable Market (TAM)[cite: 1049, 1050, 1179].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US Foreign Direct Product Rule (FDPR) extraterritorial controls bar ASML from shipping flagship EUV and legacy DUV systems to Chinese entities[cite: 1054, 1055].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This macroeconomic geographic concentration risk threatens the 15-20% of global system sales historically derived from the Chinese mainland[cite: 1060, 1061, 1062].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Macro-regulatory tailwinds, such as the $52B U.S. CHIPS Act and €43B European Chips Act, partially underwrite client CapEx and offset export bans[cite: 1066, 1067, 1070].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9. The High-NA EUV Financial Runway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alibri"/>
              </a:defRPr>
            </a:pPr>
            <a:r>
              <a:t>Future revenue velocity is anchored by the Twinscan EXE (High-NA EUV) series, raising the Average Selling Price (ASP) to $350 million[cite: 1108, 1111].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This pricing architecture allows ASML to achieve 15% top-line growth without requiring proportional increases in physical manufacturing throughput[cite: 1113, 1116].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Installed Base Management (Services) acts as a high-margin, 'Razor and Blade' software annuity, stabilizing cash flow during CapEx downturns[cite: 1119, 1122, 1123].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Corporate treasury utilizes highly sophisticated FX derivative overlays to insulate this global revenue stream from translational and transactional currency shocks[cite: 1136, 1137, 1138].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10. Final Strategic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alibri"/>
              </a:defRPr>
            </a:pPr>
            <a:r>
              <a:t>FOR EXISTING SHAREHOLDERS: HOLD. The pristine corporate finance architecture and multi-decade AI CapEx cycle justify retaining exposure[cite: 1173].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The structural alignment of the Dutch Two-Tier Board and ROAIC-based executive compensation mitigates agency risk and ensures capital discipline[cite: 1146, 1147, 1153].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FOR NEW CAPITAL DEPLOYMENT: AVOID. The extreme valuation premium ($1,592 vs $411 DCF) offers an unacceptable level of systematic risk[cite: 1174].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t>Allocators must await a localized macroeconomic recession or geopolitical shock to trigger a 30% to 40% equity drawdown for a mathematically defensible entry point[cite: 1086].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1436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1. Executive Summary &amp; Objective</vt:lpstr>
      <vt:lpstr>2. The EUV Monopoly &amp; Economic Moat</vt:lpstr>
      <vt:lpstr>3. Fundamental Health: Margin Expansion</vt:lpstr>
      <vt:lpstr>4. Solvency &amp; Working Capital Masterclass</vt:lpstr>
      <vt:lpstr>5. Long-Term Market Valuation &amp; Momentum</vt:lpstr>
      <vt:lpstr>6. Intrinsic Valuation: The DCF Disconnect</vt:lpstr>
      <vt:lpstr>7. Relative Valuation &amp; Real Options</vt:lpstr>
      <vt:lpstr>8. The Geopolitical Black Swan</vt:lpstr>
      <vt:lpstr>9. The High-NA EUV Financial Runway</vt:lpstr>
      <vt:lpstr>10. Final Strategic Recommendation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Danish Shaikh</cp:lastModifiedBy>
  <cp:revision>2</cp:revision>
  <dcterms:created xsi:type="dcterms:W3CDTF">2013-01-27T09:14:16Z</dcterms:created>
  <dcterms:modified xsi:type="dcterms:W3CDTF">2026-05-11T19:48:54Z</dcterms:modified>
  <cp:category/>
</cp:coreProperties>
</file>